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5" r:id="rId10"/>
    <p:sldId id="264" r:id="rId11"/>
    <p:sldId id="266" r:id="rId12"/>
    <p:sldId id="268" r:id="rId13"/>
    <p:sldId id="269" r:id="rId14"/>
    <p:sldId id="271" r:id="rId15"/>
    <p:sldId id="272" r:id="rId16"/>
    <p:sldId id="270" r:id="rId17"/>
    <p:sldId id="273" r:id="rId18"/>
    <p:sldId id="274" r:id="rId19"/>
    <p:sldId id="276" r:id="rId20"/>
    <p:sldId id="277" r:id="rId21"/>
    <p:sldId id="279" r:id="rId22"/>
    <p:sldId id="278" r:id="rId23"/>
    <p:sldId id="275" r:id="rId24"/>
    <p:sldId id="282" r:id="rId25"/>
    <p:sldId id="313" r:id="rId26"/>
    <p:sldId id="280" r:id="rId27"/>
    <p:sldId id="281" r:id="rId28"/>
    <p:sldId id="314" r:id="rId2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E"/>
    <a:srgbClr val="CCD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0"/>
    <p:restoredTop sz="94614"/>
  </p:normalViewPr>
  <p:slideViewPr>
    <p:cSldViewPr snapToGrid="0">
      <p:cViewPr varScale="1">
        <p:scale>
          <a:sx n="109" d="100"/>
          <a:sy n="109" d="100"/>
        </p:scale>
        <p:origin x="2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5F93-B807-7756-EBDB-DBBE0255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D0445-8960-0E7B-25C9-3109C8BCE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2EED-6864-8DBF-B3AA-04392CE0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F9B70-88E1-5DD5-17C7-7D770A98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751FB-F959-4592-D942-FB1DCF94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269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48FB-435F-0037-4EE0-093F3599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35DAC-5260-543F-65F6-C56CA734D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510C-2AA0-BD35-CA67-C204F11F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638EC-6584-E9AB-3B41-E117F252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7343-DE0A-9F03-D0DE-99FAD443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225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A4D2-CC11-1484-D900-49DAB366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11B8E-2623-2A32-1AB3-6D2ABC99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B373B-1B2B-6E9E-042B-D1831F77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E77B-CAB8-5088-3A37-5B7A49C8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8BE32-0EF1-3CF7-52C4-11C7AEDE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168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7B21-6E47-4F15-3EF5-30008834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C94B-A276-E58D-72DD-4B76EACC6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02BED-73CE-EC26-F91F-07267B9F5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1201-CF99-5473-15A1-50BED155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81A21-E27B-270F-DBA2-E1C5E7A3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DC140-B16F-CBEA-1EEA-B2AC2F4E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954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DC22-FD90-6643-DFED-DEAE1E6FD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80A95-B4D4-6A0C-AD4B-BE2803775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69B14-5EB6-2D94-A36E-B819A6F6A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ED1D6-3232-27BF-048F-2728B8264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3D760-77B2-C85B-5978-0EB2B1DA6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D4A25-F855-D48B-136F-B27E8F31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5A273-BFF6-5A7B-A78D-EC59FACA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E37B2-4715-EE1C-1257-979BB7C1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323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90B3-EBAC-C567-64BE-B1FDF044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B2652-45A0-172E-28FB-27A71537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A9BA7-8831-63BA-13C2-82FB70F8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08849-A880-282A-4D62-64202E63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182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D5A6F-DBE9-3399-85F4-B88BF7A9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F5388-4EDB-1C3F-D0E2-4069477F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05C89-E527-4F94-C281-B046FF46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127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5EC4-D4B7-AA95-4D63-477A3413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D8FE-A6E7-BA2A-500E-6994D3A8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6E129-B8CF-F87F-26C8-64A764B4F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D6E43-2BF2-75CC-F941-B54AF667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AAEBD-19B7-FB57-4E3C-DC60F651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7A0D5-0447-CB47-55C7-33B8A574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237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6E68-31DB-9317-24D5-30944D22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F87A6-7B16-76D9-DFF6-64237741D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B4247-CDB5-32AE-C25B-F755644E4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0F751-8BB1-1A84-5708-DF5DDC88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11911-201E-EE56-784E-0D338910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3DAC5-294B-E6D9-87D5-EAA2D627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454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F703-F1F5-6A33-3EFD-49256D2CE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137D1-4E31-7EEB-2C59-8047959C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C170A-CABD-85EF-276F-C6EFC90C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4D10-BB63-0E10-12BD-C8BB2C29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5034-7942-3F90-F295-D9BDF6E0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447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F028F-3C25-CA32-6416-170C081E1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97081-A506-33C4-283C-32242F302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55D27-ED5A-BB58-3933-4E4FFC3F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037CF-73D8-7C64-F652-48256A52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64EB-3100-8BE9-92BB-EE75F2BB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83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65CA3-7779-E354-47D3-1CDBD677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03A0E-1B40-DD32-AB01-C0916220E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DBAE-693A-0835-2B33-D3C0E33CF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0AB0-C8FC-224D-9612-F9728664F809}" type="datetimeFigureOut">
              <a:rPr lang="en-CN" smtClean="0"/>
              <a:t>2026/6/11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1CCF-E32A-E1F5-9FFB-517CBDC30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8A3EA-4465-B057-19F4-5CBF70383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E8317-3A3C-9D43-9069-29D7444A9C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3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C258F4-76B0-8BB1-2A65-699A9436DC26}"/>
              </a:ext>
            </a:extLst>
          </p:cNvPr>
          <p:cNvSpPr txBox="1"/>
          <p:nvPr/>
        </p:nvSpPr>
        <p:spPr>
          <a:xfrm>
            <a:off x="984067" y="1859340"/>
            <a:ext cx="107289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3200" dirty="0">
                <a:solidFill>
                  <a:srgbClr val="FF0000"/>
                </a:solidFill>
                <a:latin typeface="Charter Roman" panose="02040503050506020203" pitchFamily="18" charset="0"/>
              </a:rPr>
              <a:t>Life history strategies </a:t>
            </a:r>
            <a:r>
              <a:rPr lang="en-CN" sz="3200" dirty="0">
                <a:latin typeface="Charter Roman" panose="02040503050506020203" pitchFamily="18" charset="0"/>
              </a:rPr>
              <a:t>and </a:t>
            </a:r>
            <a:r>
              <a:rPr lang="en-CN" sz="3200" dirty="0">
                <a:solidFill>
                  <a:srgbClr val="FF0000"/>
                </a:solidFill>
                <a:latin typeface="Charter Roman" panose="02040503050506020203" pitchFamily="18" charset="0"/>
              </a:rPr>
              <a:t>psychopathology</a:t>
            </a:r>
            <a:r>
              <a:rPr lang="en-CN" sz="3200" dirty="0">
                <a:latin typeface="Charter Roman" panose="02040503050506020203" pitchFamily="18" charset="0"/>
              </a:rPr>
              <a:t>:</a:t>
            </a:r>
          </a:p>
          <a:p>
            <a:r>
              <a:rPr lang="en-CN" sz="3200" dirty="0">
                <a:latin typeface="Charter Roman" panose="02040503050506020203" pitchFamily="18" charset="0"/>
              </a:rPr>
              <a:t>the faster the life strategies,the more symptoms of psychopathology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A4491-93D3-4C22-C062-F300E1E8CAAF}"/>
              </a:ext>
            </a:extLst>
          </p:cNvPr>
          <p:cNvSpPr txBox="1"/>
          <p:nvPr/>
        </p:nvSpPr>
        <p:spPr>
          <a:xfrm>
            <a:off x="984067" y="36471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Jessie E. Hurst, Phillip S. Kavanagh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4CEA9-F0AC-CA42-BBF1-2E19D8C2C64F}"/>
              </a:ext>
            </a:extLst>
          </p:cNvPr>
          <p:cNvSpPr txBox="1"/>
          <p:nvPr/>
        </p:nvSpPr>
        <p:spPr>
          <a:xfrm>
            <a:off x="5354681" y="5592175"/>
            <a:ext cx="1122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harter Roman" panose="02040503050506020203" pitchFamily="18" charset="0"/>
              </a:rPr>
              <a:t>By: hyijie</a:t>
            </a: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6/11/26</a:t>
            </a: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8FEDE9-2562-ABE5-D14E-D4ABAB04D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21" y="1105360"/>
            <a:ext cx="5406441" cy="43193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0D7CA-F7E8-7216-D7F5-B789EEF59755}"/>
              </a:ext>
            </a:extLst>
          </p:cNvPr>
          <p:cNvSpPr txBox="1"/>
          <p:nvPr/>
        </p:nvSpPr>
        <p:spPr>
          <a:xfrm>
            <a:off x="349321" y="490668"/>
            <a:ext cx="313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Corresponding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author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680E5-2427-F66F-FF2F-B8B20DE2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97" y="721500"/>
            <a:ext cx="6102723" cy="49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1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154DD0-A214-D447-5AFF-BA093937F67A}"/>
              </a:ext>
            </a:extLst>
          </p:cNvPr>
          <p:cNvSpPr txBox="1"/>
          <p:nvPr/>
        </p:nvSpPr>
        <p:spPr>
          <a:xfrm>
            <a:off x="1027417" y="1256724"/>
            <a:ext cx="3671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Adverse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altLang="zh-CN" sz="2800" dirty="0">
                <a:latin typeface="Charter Roman" panose="02040503050506020203" pitchFamily="18" charset="0"/>
              </a:rPr>
              <a:t>environments</a:t>
            </a:r>
            <a:endParaRPr lang="en-CN" sz="2800" dirty="0">
              <a:latin typeface="Charter Roman" panose="020405030505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88B64-6247-717E-8098-BF1170692299}"/>
              </a:ext>
            </a:extLst>
          </p:cNvPr>
          <p:cNvSpPr txBox="1"/>
          <p:nvPr/>
        </p:nvSpPr>
        <p:spPr>
          <a:xfrm>
            <a:off x="7221649" y="1256724"/>
            <a:ext cx="4105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rter Roman" panose="02040503050506020203" pitchFamily="18" charset="0"/>
              </a:rPr>
              <a:t>M</a:t>
            </a:r>
            <a:r>
              <a:rPr lang="en-CN" sz="2800" dirty="0">
                <a:latin typeface="Charter Roman" panose="02040503050506020203" pitchFamily="18" charset="0"/>
              </a:rPr>
              <a:t>ental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altLang="zh-CN" sz="2800" dirty="0">
                <a:latin typeface="Charter Roman" panose="02040503050506020203" pitchFamily="18" charset="0"/>
              </a:rPr>
              <a:t>health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altLang="zh-CN" sz="2800" dirty="0">
                <a:latin typeface="Charter Roman" panose="02040503050506020203" pitchFamily="18" charset="0"/>
              </a:rPr>
              <a:t>difficulties</a:t>
            </a:r>
            <a:endParaRPr lang="en-CN" sz="2800" dirty="0">
              <a:latin typeface="Charter Roman" panose="0204050305050602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B8533-355F-5653-11AE-6A3E7972001F}"/>
              </a:ext>
            </a:extLst>
          </p:cNvPr>
          <p:cNvSpPr txBox="1"/>
          <p:nvPr/>
        </p:nvSpPr>
        <p:spPr>
          <a:xfrm>
            <a:off x="4092887" y="2271156"/>
            <a:ext cx="4006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Charter Roman" panose="02040503050506020203" pitchFamily="18" charset="0"/>
              </a:rPr>
              <a:t>L</a:t>
            </a:r>
            <a:r>
              <a:rPr lang="en-CN" sz="3200" b="1" u="sng" dirty="0">
                <a:latin typeface="Charter Roman" panose="02040503050506020203" pitchFamily="18" charset="0"/>
              </a:rPr>
              <a:t>ife history strategies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0A61A4-CF4A-F0B3-4549-DE13CAD59830}"/>
              </a:ext>
            </a:extLst>
          </p:cNvPr>
          <p:cNvSpPr txBox="1"/>
          <p:nvPr/>
        </p:nvSpPr>
        <p:spPr>
          <a:xfrm>
            <a:off x="1016107" y="3347143"/>
            <a:ext cx="3177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rter Roman" panose="02040503050506020203" pitchFamily="18" charset="0"/>
              </a:rPr>
              <a:t>1️⃣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sz="2800" dirty="0">
                <a:latin typeface="Charter Roman" panose="02040503050506020203" pitchFamily="18" charset="0"/>
              </a:rPr>
              <a:t>Family structure</a:t>
            </a:r>
            <a:endParaRPr lang="en-CN" sz="2800" dirty="0">
              <a:latin typeface="Charter Roman" panose="020405030505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FDA5DA-C0CF-D92F-3B39-616DB39011F1}"/>
              </a:ext>
            </a:extLst>
          </p:cNvPr>
          <p:cNvSpPr txBox="1"/>
          <p:nvPr/>
        </p:nvSpPr>
        <p:spPr>
          <a:xfrm>
            <a:off x="7998421" y="3389724"/>
            <a:ext cx="3807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rter Roman" panose="02040503050506020203" pitchFamily="18" charset="0"/>
              </a:rPr>
              <a:t>5️⃣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sz="2800" dirty="0">
                <a:latin typeface="Charter Roman" panose="02040503050506020203" pitchFamily="18" charset="0"/>
              </a:rPr>
              <a:t>Self-harm behaviors</a:t>
            </a:r>
            <a:endParaRPr lang="en-CN" sz="2800" dirty="0">
              <a:latin typeface="Charter Roman" panose="020405030505060202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DBCC4-94C6-C39F-09E7-F3FBC4FD0F87}"/>
              </a:ext>
            </a:extLst>
          </p:cNvPr>
          <p:cNvSpPr txBox="1"/>
          <p:nvPr/>
        </p:nvSpPr>
        <p:spPr>
          <a:xfrm>
            <a:off x="1823351" y="4313741"/>
            <a:ext cx="33137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harter Roman" panose="02040503050506020203" pitchFamily="18" charset="0"/>
              </a:rPr>
              <a:t>2️⃣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US" sz="2800" dirty="0">
                <a:latin typeface="Charter Roman" panose="02040503050506020203" pitchFamily="18" charset="0"/>
              </a:rPr>
              <a:t>Symptoms of  </a:t>
            </a:r>
          </a:p>
          <a:p>
            <a:r>
              <a:rPr lang="zh-CN" altLang="en-US" sz="2800" dirty="0">
                <a:latin typeface="Charter Roman" panose="02040503050506020203" pitchFamily="18" charset="0"/>
              </a:rPr>
              <a:t>     </a:t>
            </a:r>
            <a:r>
              <a:rPr lang="en-US" sz="2800" dirty="0">
                <a:latin typeface="Charter Roman" panose="02040503050506020203" pitchFamily="18" charset="0"/>
              </a:rPr>
              <a:t>psychopathology</a:t>
            </a:r>
            <a:endParaRPr lang="en-CN" sz="2800" dirty="0">
              <a:latin typeface="Charter Roman" panose="020405030505060202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4BE54C-8633-10A5-0E7E-5372B76B58EB}"/>
              </a:ext>
            </a:extLst>
          </p:cNvPr>
          <p:cNvSpPr txBox="1"/>
          <p:nvPr/>
        </p:nvSpPr>
        <p:spPr>
          <a:xfrm>
            <a:off x="4698615" y="5601276"/>
            <a:ext cx="3046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3️⃣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CN" sz="2800" dirty="0">
                <a:latin typeface="Charter Roman" panose="02040503050506020203" pitchFamily="18" charset="0"/>
              </a:rPr>
              <a:t>Responsiveness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29C75F-93CD-F6E3-ECE7-8073BF144AD0}"/>
              </a:ext>
            </a:extLst>
          </p:cNvPr>
          <p:cNvSpPr txBox="1"/>
          <p:nvPr/>
        </p:nvSpPr>
        <p:spPr>
          <a:xfrm>
            <a:off x="7421018" y="4529185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4️⃣</a:t>
            </a:r>
            <a:r>
              <a:rPr lang="zh-CN" altLang="en-US" sz="2800" dirty="0">
                <a:latin typeface="Charter Roman" panose="02040503050506020203" pitchFamily="18" charset="0"/>
              </a:rPr>
              <a:t> </a:t>
            </a:r>
            <a:r>
              <a:rPr lang="en-CN" sz="2800" dirty="0">
                <a:latin typeface="Charter Roman" panose="02040503050506020203" pitchFamily="18" charset="0"/>
              </a:rPr>
              <a:t>Aggressive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A732A0-E39D-2B17-1105-96229C89A4B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698615" y="1518334"/>
            <a:ext cx="25230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2BD261-79DC-DAFA-CF06-D4A951CE0D54}"/>
              </a:ext>
            </a:extLst>
          </p:cNvPr>
          <p:cNvSpPr txBox="1"/>
          <p:nvPr/>
        </p:nvSpPr>
        <p:spPr>
          <a:xfrm>
            <a:off x="256854" y="226031"/>
            <a:ext cx="404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Research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question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and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logics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8828EF-6ED1-3DF0-3D3A-F645470ADE4E}"/>
              </a:ext>
            </a:extLst>
          </p:cNvPr>
          <p:cNvSpPr txBox="1"/>
          <p:nvPr/>
        </p:nvSpPr>
        <p:spPr>
          <a:xfrm>
            <a:off x="5443747" y="702726"/>
            <a:ext cx="1003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6600" dirty="0"/>
              <a:t>❓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857D50-C3AD-8B24-FAEA-59559AEE9C4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63016" y="1779944"/>
            <a:ext cx="2037757" cy="491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EB0CEB-921D-1B51-9464-4296134999E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7078894" y="1779944"/>
            <a:ext cx="2195561" cy="553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35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6786B5-DE88-B14C-B162-09F205D87C24}"/>
              </a:ext>
            </a:extLst>
          </p:cNvPr>
          <p:cNvSpPr txBox="1"/>
          <p:nvPr/>
        </p:nvSpPr>
        <p:spPr>
          <a:xfrm>
            <a:off x="390418" y="328773"/>
            <a:ext cx="3334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Comparison</a:t>
            </a:r>
            <a:r>
              <a:rPr lang="zh-CN" altLang="en-US" sz="3200" dirty="0">
                <a:latin typeface="Charter Roman" panose="02040503050506020203" pitchFamily="18" charset="0"/>
              </a:rPr>
              <a:t> </a:t>
            </a:r>
            <a:r>
              <a:rPr lang="en-US" altLang="zh-CN" sz="3200" dirty="0">
                <a:latin typeface="Charter Roman" panose="02040503050506020203" pitchFamily="18" charset="0"/>
              </a:rPr>
              <a:t>table</a:t>
            </a:r>
            <a:endParaRPr lang="en-CN" sz="3200" dirty="0">
              <a:latin typeface="Charter Roman" panose="02040503050506020203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DE8B52-8E91-160F-A73B-C13DBE863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520197"/>
              </p:ext>
            </p:extLst>
          </p:nvPr>
        </p:nvGraphicFramePr>
        <p:xfrm>
          <a:off x="240801" y="1510300"/>
          <a:ext cx="11710398" cy="3393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077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619489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2052666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481436">
                <a:tc rowSpan="2">
                  <a:txBody>
                    <a:bodyPr/>
                    <a:lstStyle/>
                    <a:p>
                      <a:pPr algn="ctr"/>
                      <a:r>
                        <a:rPr lang="en-CN" sz="28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8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8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658997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998768">
                <a:tc>
                  <a:txBody>
                    <a:bodyPr/>
                    <a:lstStyle/>
                    <a:p>
                      <a:pPr algn="ctr"/>
                      <a:r>
                        <a:rPr lang="en-CN" sz="2800" dirty="0">
                          <a:latin typeface="Charter Roman" panose="02040503050506020203" pitchFamily="18" charset="0"/>
                        </a:rPr>
                        <a:t>table</a:t>
                      </a:r>
                      <a:r>
                        <a:rPr lang="en-US" altLang="zh-CN" sz="2800" dirty="0">
                          <a:latin typeface="Charter Roman" panose="02040503050506020203" pitchFamily="18" charset="0"/>
                        </a:rPr>
                        <a:t>1</a:t>
                      </a:r>
                      <a:endParaRPr lang="en-CN" sz="28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>
                          <a:latin typeface="Charter Roman" panose="02040503050506020203" pitchFamily="18" charset="0"/>
                        </a:rPr>
                        <a:t>100</a:t>
                      </a:r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%</a:t>
                      </a:r>
                      <a:r>
                        <a:rPr lang="el-GR" sz="2400" dirty="0">
                          <a:latin typeface="Charter Roman" panose="02040503050506020203" pitchFamily="18" charset="0"/>
                        </a:rPr>
                        <a:t> × |</a:t>
                      </a:r>
                      <a:r>
                        <a:rPr lang="en-US" sz="2400" dirty="0">
                          <a:latin typeface="Charter Roman" panose="02040503050506020203" pitchFamily="18" charset="0"/>
                        </a:rPr>
                        <a:t>XR - XO|/|XO|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998768"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Charter Roman" panose="02040503050506020203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295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85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176560-3C22-D4FF-00B1-30BB7B1CC971}"/>
              </a:ext>
            </a:extLst>
          </p:cNvPr>
          <p:cNvSpPr txBox="1"/>
          <p:nvPr/>
        </p:nvSpPr>
        <p:spPr>
          <a:xfrm>
            <a:off x="245602" y="165701"/>
            <a:ext cx="2740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Charter Roman" panose="02040503050506020203" pitchFamily="18" charset="0"/>
              </a:rPr>
              <a:t>Approach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of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 err="1">
                <a:latin typeface="Charter Roman" panose="02040503050506020203" pitchFamily="18" charset="0"/>
              </a:rPr>
              <a:t>Tabbit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CF45A-DB90-6C2F-0759-92B0C305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45" y="744702"/>
            <a:ext cx="7091369" cy="4447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D917C-DBFC-B903-6B68-410D11BC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66" y="744702"/>
            <a:ext cx="3416300" cy="299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738196-FD88-87D5-CC38-18FD83336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866" y="3928836"/>
            <a:ext cx="3403600" cy="2374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E54651-3174-A6DF-EAAF-2297A0425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0839" y="5475048"/>
            <a:ext cx="4948389" cy="1217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47573D-F6B1-991D-8B3E-7CFB4DBA0011}"/>
              </a:ext>
            </a:extLst>
          </p:cNvPr>
          <p:cNvSpPr txBox="1"/>
          <p:nvPr/>
        </p:nvSpPr>
        <p:spPr>
          <a:xfrm>
            <a:off x="1896929" y="5846019"/>
            <a:ext cx="1037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harter Roman" panose="02040503050506020203" pitchFamily="18" charset="0"/>
              </a:rPr>
              <a:t>Results: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9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9C64AF-AE82-AE64-9A07-7922B5D3FA16}"/>
              </a:ext>
            </a:extLst>
          </p:cNvPr>
          <p:cNvSpPr txBox="1"/>
          <p:nvPr/>
        </p:nvSpPr>
        <p:spPr>
          <a:xfrm>
            <a:off x="245602" y="165701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Charter Roman" panose="02040503050506020203" pitchFamily="18" charset="0"/>
              </a:rPr>
              <a:t>Approach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of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Codex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6BFA0-AAA2-4EEC-01F4-CAF6BE46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20" y="859971"/>
            <a:ext cx="5331499" cy="3292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2A4D6C-46F3-DF10-110C-252EBE83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688" y="1115786"/>
            <a:ext cx="6370112" cy="2541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DC5EA4-A0E2-CE5B-E9C8-F547F0582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386" y="4678136"/>
            <a:ext cx="7279410" cy="13198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E0C07-770B-DD5B-0223-36185E0F965C}"/>
              </a:ext>
            </a:extLst>
          </p:cNvPr>
          <p:cNvSpPr txBox="1"/>
          <p:nvPr/>
        </p:nvSpPr>
        <p:spPr>
          <a:xfrm>
            <a:off x="3461657" y="475705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CN" dirty="0"/>
              <a:t>esults</a:t>
            </a:r>
            <a:r>
              <a:rPr lang="en-US" dirty="0"/>
              <a:t>: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2375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4A189C-5B97-F932-614F-6A862100C1EF}"/>
              </a:ext>
            </a:extLst>
          </p:cNvPr>
          <p:cNvSpPr txBox="1"/>
          <p:nvPr/>
        </p:nvSpPr>
        <p:spPr>
          <a:xfrm>
            <a:off x="141514" y="242525"/>
            <a:ext cx="2754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01_sample_description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C7A8BD-66EF-3ED2-81CE-5347A313C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05935"/>
              </p:ext>
            </p:extLst>
          </p:nvPr>
        </p:nvGraphicFramePr>
        <p:xfrm>
          <a:off x="240801" y="748266"/>
          <a:ext cx="11710398" cy="5667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95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938195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619489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2052666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1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1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Initial sample size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209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Excluded due to incomplete questionnaires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❌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08041"/>
                  </a:ext>
                </a:extLst>
              </a:tr>
              <a:tr h="4083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Final sample size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82881174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426295829"/>
                  </a:ext>
                </a:extLst>
              </a:tr>
              <a:tr h="3716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females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92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92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976660566"/>
                  </a:ext>
                </a:extLst>
              </a:tr>
              <a:tr h="44535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Mean age of 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36.67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36.67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647749632"/>
                  </a:ext>
                </a:extLst>
              </a:tr>
              <a:tr h="3927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Age SD of 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15.73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15.73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688894569"/>
                  </a:ext>
                </a:extLst>
              </a:tr>
              <a:tr h="3822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Mean age of females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33.13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33.13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824324819"/>
                  </a:ext>
                </a:extLst>
              </a:tr>
              <a:tr h="29711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Age SD of females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14.16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14.16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509561817"/>
                  </a:ext>
                </a:extLst>
              </a:tr>
              <a:tr h="33589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Proportion with at least one half-sibling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83.3%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harter Roman" panose="02040503050506020203" pitchFamily="18" charset="0"/>
                          <a:ea typeface="+mn-ea"/>
                          <a:cs typeface="+mn-cs"/>
                        </a:rPr>
                        <a:t>100%</a:t>
                      </a:r>
                      <a:endParaRPr kumimoji="0" lang="en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harter Roman" panose="020405030505060202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16.70%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105496"/>
                  </a:ext>
                </a:extLst>
              </a:tr>
              <a:tr h="3253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Proportion with at least one step-sibling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89.1%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harter Roman" panose="02040503050506020203" pitchFamily="18" charset="0"/>
                          <a:ea typeface="+mn-ea"/>
                          <a:cs typeface="+mn-cs"/>
                        </a:rPr>
                        <a:t>100%</a:t>
                      </a:r>
                      <a:endParaRPr kumimoji="0" lang="en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harter Roman" panose="020405030505060202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10.90%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99336"/>
                  </a:ext>
                </a:extLst>
              </a:tr>
              <a:tr h="31484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Proportion with a stepmother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8.7%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8.7%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592984484"/>
                  </a:ext>
                </a:extLst>
              </a:tr>
              <a:tr h="5788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Proportion with a stepfather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10.9%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harter Roman" panose="02040503050506020203" pitchFamily="18" charset="0"/>
                          <a:ea typeface="+mn-ea"/>
                          <a:cs typeface="+mn-cs"/>
                        </a:rPr>
                        <a:t>—</a:t>
                      </a:r>
                      <a:endParaRPr kumimoji="0" lang="en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harter Roman" panose="020405030505060202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harter Roman" panose="02040503050506020203" pitchFamily="18" charset="0"/>
                          <a:ea typeface="+mn-ea"/>
                          <a:cs typeface="+mn-cs"/>
                        </a:rPr>
                        <a:t>—</a:t>
                      </a:r>
                      <a:endParaRPr kumimoji="0" lang="en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harter Roman" panose="020405030505060202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10.9%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00057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21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EA2BF2-A65C-18B5-FF93-B2CD264B5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71" y="1111380"/>
            <a:ext cx="11611057" cy="4810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678EC4-C201-5B44-1565-009504CC0685}"/>
              </a:ext>
            </a:extLst>
          </p:cNvPr>
          <p:cNvSpPr txBox="1"/>
          <p:nvPr/>
        </p:nvSpPr>
        <p:spPr>
          <a:xfrm>
            <a:off x="290471" y="28984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dirty="0">
                <a:latin typeface="Charter Roman" panose="02040503050506020203" pitchFamily="18" charset="0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38892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3CF6-62AE-063C-7BD4-04896016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337533-2804-C8DD-6E40-94B33F39E3C5}"/>
              </a:ext>
            </a:extLst>
          </p:cNvPr>
          <p:cNvSpPr txBox="1"/>
          <p:nvPr/>
        </p:nvSpPr>
        <p:spPr>
          <a:xfrm>
            <a:off x="141514" y="242525"/>
            <a:ext cx="2754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02_table1_descriptives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185D1C-C411-A970-9869-121D51FE8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667755"/>
              </p:ext>
            </p:extLst>
          </p:nvPr>
        </p:nvGraphicFramePr>
        <p:xfrm>
          <a:off x="240801" y="748266"/>
          <a:ext cx="11710398" cy="5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628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674914">
                  <a:extLst>
                    <a:ext uri="{9D8B030D-6E8A-4147-A177-3AD203B41FA5}">
                      <a16:colId xmlns:a16="http://schemas.microsoft.com/office/drawing/2014/main" val="3978712359"/>
                    </a:ext>
                  </a:extLst>
                </a:gridCol>
                <a:gridCol w="620486">
                  <a:extLst>
                    <a:ext uri="{9D8B030D-6E8A-4147-A177-3AD203B41FA5}">
                      <a16:colId xmlns:a16="http://schemas.microsoft.com/office/drawing/2014/main" val="2169331607"/>
                    </a:ext>
                  </a:extLst>
                </a:gridCol>
                <a:gridCol w="892629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71945709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46322298"/>
                    </a:ext>
                  </a:extLst>
                </a:gridCol>
                <a:gridCol w="809171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809172">
                  <a:extLst>
                    <a:ext uri="{9D8B030D-6E8A-4147-A177-3AD203B41FA5}">
                      <a16:colId xmlns:a16="http://schemas.microsoft.com/office/drawing/2014/main" val="473085789"/>
                    </a:ext>
                  </a:extLst>
                </a:gridCol>
                <a:gridCol w="809171">
                  <a:extLst>
                    <a:ext uri="{9D8B030D-6E8A-4147-A177-3AD203B41FA5}">
                      <a16:colId xmlns:a16="http://schemas.microsoft.com/office/drawing/2014/main" val="1522194832"/>
                    </a:ext>
                  </a:extLst>
                </a:gridCol>
                <a:gridCol w="573314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573315">
                  <a:extLst>
                    <a:ext uri="{9D8B030D-6E8A-4147-A177-3AD203B41FA5}">
                      <a16:colId xmlns:a16="http://schemas.microsoft.com/office/drawing/2014/main" val="2554467742"/>
                    </a:ext>
                  </a:extLst>
                </a:gridCol>
                <a:gridCol w="649514">
                  <a:extLst>
                    <a:ext uri="{9D8B030D-6E8A-4147-A177-3AD203B41FA5}">
                      <a16:colId xmlns:a16="http://schemas.microsoft.com/office/drawing/2014/main" val="295934638"/>
                    </a:ext>
                  </a:extLst>
                </a:gridCol>
                <a:gridCol w="656333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  <a:gridCol w="656333">
                  <a:extLst>
                    <a:ext uri="{9D8B030D-6E8A-4147-A177-3AD203B41FA5}">
                      <a16:colId xmlns:a16="http://schemas.microsoft.com/office/drawing/2014/main" val="2506743130"/>
                    </a:ext>
                  </a:extLst>
                </a:gridCol>
                <a:gridCol w="656333">
                  <a:extLst>
                    <a:ext uri="{9D8B030D-6E8A-4147-A177-3AD203B41FA5}">
                      <a16:colId xmlns:a16="http://schemas.microsoft.com/office/drawing/2014/main" val="171117437"/>
                    </a:ext>
                  </a:extLst>
                </a:gridCol>
              </a:tblGrid>
              <a:tr h="317515">
                <a:tc rowSpan="5"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1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14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13842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1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10033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M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SD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α</a:t>
                      </a:r>
                      <a:r>
                        <a:rPr lang="zh-CN" altLang="en-US" sz="1400" dirty="0">
                          <a:latin typeface="Charter Roman" panose="02040503050506020203" pitchFamily="18" charset="0"/>
                        </a:rPr>
                        <a:t>*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M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SD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α</a:t>
                      </a:r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885975"/>
                  </a:ext>
                </a:extLst>
              </a:tr>
              <a:tr h="187967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SD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644462"/>
                  </a:ext>
                </a:extLst>
              </a:tr>
              <a:tr h="368301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α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761422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attachment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15.54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15.54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0.92</a:t>
                      </a:r>
                    </a:p>
                  </a:txBody>
                  <a:tcPr marL="9525" marR="9525" marT="9525"/>
                </a:tc>
                <a:tc rowSpan="11" gridSpan="3">
                  <a:txBody>
                    <a:bodyPr/>
                    <a:lstStyle/>
                    <a:p>
                      <a:pPr algn="ctr"/>
                      <a:endParaRPr lang="en-CN" sz="2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endParaRPr lang="en-CN" sz="2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endParaRPr lang="en-CN" sz="2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endParaRPr lang="en-CN" sz="24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endParaRPr lang="en-CN" sz="28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CN" sz="2800" dirty="0">
                          <a:latin typeface="Charter Roman" panose="02040503050506020203" pitchFamily="18" charset="0"/>
                        </a:rPr>
                        <a:t>❌</a:t>
                      </a:r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15.54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0.26%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Availability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3.22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3.22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5.63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3.22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251908041"/>
                  </a:ext>
                </a:extLst>
              </a:tr>
              <a:tr h="40835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Goal-corrected partnership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4.77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2.75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4.77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2.75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4.77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2.75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82881174"/>
                  </a:ext>
                </a:extLst>
              </a:tr>
              <a:tr h="3999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Angry distress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5.14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5.14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0.81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5.14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0.09%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426295829"/>
                  </a:ext>
                </a:extLst>
              </a:tr>
              <a:tr h="3716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59.90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19.62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59.90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19.62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59.90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19.62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976660566"/>
                  </a:ext>
                </a:extLst>
              </a:tr>
              <a:tr h="44535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Physical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16.81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16.81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</a:t>
                      </a:r>
                      <a:endParaRPr lang="en-CN" sz="11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16.81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647749632"/>
                  </a:ext>
                </a:extLst>
              </a:tr>
              <a:tr h="3927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Verbal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11.51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11.51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0.84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11.51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688894569"/>
                  </a:ext>
                </a:extLst>
              </a:tr>
              <a:tr h="3822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Anger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14.30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5.44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14.30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5.44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0.82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14.30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5.44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824324819"/>
                  </a:ext>
                </a:extLst>
              </a:tr>
              <a:tr h="29711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Hostility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17.27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8.05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17.27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8.05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0.90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17.27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8.05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0.06%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509561817"/>
                  </a:ext>
                </a:extLst>
              </a:tr>
              <a:tr h="33589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Mini-K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11.25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11.25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0.83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14.62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11.25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0.84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0.19%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105496"/>
                  </a:ext>
                </a:extLst>
              </a:tr>
              <a:tr h="3253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HKSS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87.34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13.64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87.34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13.64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N" sz="11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87.34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13.64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0.03%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0.22%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993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1AC83B6-45A7-0FCE-84EC-C2C5470D6D55}"/>
              </a:ext>
            </a:extLst>
          </p:cNvPr>
          <p:cNvSpPr txBox="1"/>
          <p:nvPr/>
        </p:nvSpPr>
        <p:spPr>
          <a:xfrm>
            <a:off x="393700" y="5934670"/>
            <a:ext cx="3374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Note: * α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standard</a:t>
            </a:r>
            <a:r>
              <a:rPr lang="zh-CN" altLang="en-US" dirty="0"/>
              <a:t> </a:t>
            </a:r>
            <a:r>
              <a:rPr lang="en-US" altLang="zh-CN" dirty="0"/>
              <a:t>α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was not mentioned by the authors</a:t>
            </a:r>
            <a:endParaRPr lang="en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C92878-B759-50C6-44D7-CA1B3745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599" y="6109734"/>
            <a:ext cx="69596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4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280D1A-4874-19F2-6CB5-193849B1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488"/>
          <a:stretch>
            <a:fillRect/>
          </a:stretch>
        </p:blipFill>
        <p:spPr>
          <a:xfrm>
            <a:off x="432620" y="1027526"/>
            <a:ext cx="7772400" cy="17451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746FE5-818E-CB62-691F-6BD77177ECC0}"/>
              </a:ext>
            </a:extLst>
          </p:cNvPr>
          <p:cNvSpPr txBox="1"/>
          <p:nvPr/>
        </p:nvSpPr>
        <p:spPr>
          <a:xfrm>
            <a:off x="260718" y="355003"/>
            <a:ext cx="1017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Tabbit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C7C53-D42C-3F3C-B37B-F5E95F412770}"/>
              </a:ext>
            </a:extLst>
          </p:cNvPr>
          <p:cNvSpPr txBox="1"/>
          <p:nvPr/>
        </p:nvSpPr>
        <p:spPr>
          <a:xfrm>
            <a:off x="8303343" y="1715457"/>
            <a:ext cx="306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1️⃣</a:t>
            </a:r>
            <a:r>
              <a:rPr lang="en-US" dirty="0">
                <a:latin typeface="Charter Roman" panose="02040503050506020203" pitchFamily="18" charset="0"/>
              </a:rPr>
              <a:t> use the wrong code book</a:t>
            </a:r>
            <a:r>
              <a:rPr lang="en-US" altLang="zh-CN" dirty="0">
                <a:latin typeface="Charter Roman" panose="02040503050506020203" pitchFamily="18" charset="0"/>
              </a:rPr>
              <a:t> 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85152-40D7-8DAB-2279-F633FF0E3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048" y="3020649"/>
            <a:ext cx="3802038" cy="3544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03ADB9-DD3C-B8B1-0F25-58C279E379E7}"/>
              </a:ext>
            </a:extLst>
          </p:cNvPr>
          <p:cNvSpPr txBox="1"/>
          <p:nvPr/>
        </p:nvSpPr>
        <p:spPr>
          <a:xfrm>
            <a:off x="6096000" y="4588546"/>
            <a:ext cx="5330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2️⃣ Just use the original data provided by authors</a:t>
            </a:r>
            <a:r>
              <a:rPr lang="zh-CN" altLang="en-US" dirty="0">
                <a:latin typeface="Charter Roman" panose="02040503050506020203" pitchFamily="18" charset="0"/>
              </a:rPr>
              <a:t>😅</a:t>
            </a: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53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C4EA3-D115-1133-EBD6-BD0E5CFA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908288"/>
            <a:ext cx="7772400" cy="3236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0E4D37-1165-652B-7BFF-2838019FF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4889482"/>
            <a:ext cx="4673600" cy="92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B904C2-DA19-CABB-2AB9-14926786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716" y="4331509"/>
            <a:ext cx="5662152" cy="2043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DF352F-8CE9-D9BC-9287-44A09445C0A4}"/>
              </a:ext>
            </a:extLst>
          </p:cNvPr>
          <p:cNvSpPr txBox="1"/>
          <p:nvPr/>
        </p:nvSpPr>
        <p:spPr>
          <a:xfrm>
            <a:off x="403123" y="334297"/>
            <a:ext cx="82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Codex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12B06-B474-3CE6-660C-43746FC14FB8}"/>
              </a:ext>
            </a:extLst>
          </p:cNvPr>
          <p:cNvSpPr txBox="1"/>
          <p:nvPr/>
        </p:nvSpPr>
        <p:spPr>
          <a:xfrm>
            <a:off x="403123" y="6376706"/>
            <a:ext cx="567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Again: did not mention the dimension of each question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2529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337C-ED0D-D6F0-3AF3-3D9DBDE2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140906-62EF-A676-D4D7-F535EDEA6412}"/>
              </a:ext>
            </a:extLst>
          </p:cNvPr>
          <p:cNvSpPr txBox="1"/>
          <p:nvPr/>
        </p:nvSpPr>
        <p:spPr>
          <a:xfrm>
            <a:off x="240801" y="1449025"/>
            <a:ext cx="3193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03_minik_hkss_correlation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60754-1A78-2F4C-87FA-CDE16F447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57239"/>
              </p:ext>
            </p:extLst>
          </p:nvPr>
        </p:nvGraphicFramePr>
        <p:xfrm>
          <a:off x="240801" y="2018266"/>
          <a:ext cx="11710398" cy="2405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95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938195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619489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2052666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769800">
                <a:tc rowSpan="2"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653634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6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81287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Correlation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0.71</a:t>
                      </a:r>
                      <a:endParaRPr lang="en-CN" sz="24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0.71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harter Roman" panose="02040503050506020203" pitchFamily="18" charset="0"/>
                        </a:rPr>
                        <a:t>0.66%</a:t>
                      </a:r>
                      <a:endParaRPr lang="en-CN" sz="2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06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CCC11B-F44B-FB14-1881-7ACE88125001}"/>
              </a:ext>
            </a:extLst>
          </p:cNvPr>
          <p:cNvSpPr txBox="1"/>
          <p:nvPr/>
        </p:nvSpPr>
        <p:spPr>
          <a:xfrm>
            <a:off x="542157" y="558800"/>
            <a:ext cx="1176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Codex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E86C4-5B7C-6649-95C4-64DE0F008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99" y="1193800"/>
            <a:ext cx="10369081" cy="302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1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15DA-D8E2-1FE4-D6D0-D4909BFA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1BCFD-A7DA-388B-BAFA-6001B5D75CFF}"/>
              </a:ext>
            </a:extLst>
          </p:cNvPr>
          <p:cNvSpPr txBox="1"/>
          <p:nvPr/>
        </p:nvSpPr>
        <p:spPr>
          <a:xfrm>
            <a:off x="0" y="33976"/>
            <a:ext cx="3934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04_table2_threshold_percentages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00721D-C4D4-2237-8BE3-D30568051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917083"/>
              </p:ext>
            </p:extLst>
          </p:nvPr>
        </p:nvGraphicFramePr>
        <p:xfrm>
          <a:off x="240801" y="446624"/>
          <a:ext cx="11710398" cy="636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129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62052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25508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60629"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18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18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18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18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8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18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548791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Little interest or pleasure in doing things?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down, depressed, or hopeless?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29.7%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12447495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more irritated, grouchy, or angry than usual?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36.2%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36.2%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36.2%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92281208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Sleeping less than usual, but still have a lot of energy?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28.3%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28.3%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28.3%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415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Starting lots more projects than usual or doing more risky things than usual?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  <a:tr h="415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nervous, anxious, frightened, worried, or on edge?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35.5%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35.5%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35.5%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659277537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panic or being frightened?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21.0%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21.0%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21.0%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80171922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Avoiding situations that make you anxious?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6853273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Unexplained aches and pains?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29.0%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48320476"/>
                  </a:ext>
                </a:extLst>
              </a:tr>
              <a:tr h="41509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that your illnesses are not being taken seriously enough?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960840283"/>
                  </a:ext>
                </a:extLst>
              </a:tr>
              <a:tr h="39068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Thoughts of actually hurting yourself?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229403561"/>
                  </a:ext>
                </a:extLst>
              </a:tr>
              <a:tr h="3104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Hearing things other people couldn’t hear?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0.64%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592984484"/>
                  </a:ext>
                </a:extLst>
              </a:tr>
              <a:tr h="57073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that someone could hear your thoughts?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harter Roman" panose="02040503050506020203" pitchFamily="18" charset="0"/>
                          <a:ea typeface="+mn-ea"/>
                          <a:cs typeface="+mn-cs"/>
                        </a:rPr>
                        <a:t>—</a:t>
                      </a:r>
                      <a:endParaRPr kumimoji="0" lang="en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harter Roman" panose="020405030505060202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6.5%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200057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634C-62FC-20DD-5684-C713E17F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FE3CA6-E2B4-DC1F-3123-1B5AB89C6D71}"/>
              </a:ext>
            </a:extLst>
          </p:cNvPr>
          <p:cNvSpPr txBox="1"/>
          <p:nvPr/>
        </p:nvSpPr>
        <p:spPr>
          <a:xfrm>
            <a:off x="0" y="90125"/>
            <a:ext cx="3934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04_table2_threshold_percentages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1EA404-3AC7-A886-438A-81B4B8EEC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632448"/>
              </p:ext>
            </p:extLst>
          </p:nvPr>
        </p:nvGraphicFramePr>
        <p:xfrm>
          <a:off x="240801" y="595866"/>
          <a:ext cx="11710398" cy="6130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9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1489110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18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18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18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18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18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18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 ( calude 4.8)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Problems with sleep that affected your sleep quality overall?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31.2%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31.2%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31.2%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Problems with memory or finding your way home?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15.2%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12447495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Unpleasant thoughts, urges, or images repeatedly entering your mind?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20.3%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20.3%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20.3%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92281208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driven to perform certain behaviours or mental acts over and over again?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10.1%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10.1%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10.1%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0.44%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Feeling detached or distant from yourself/body/surroundings/memories?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13.8%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Not knowing who you really are or what you want out of life?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30.4%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30.4%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30.4%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659277537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Not feeling close to other people or enjoying your relationships with them?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26.8%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26.8%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26.8%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80171922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Drinking at least 4 drinks of alcohol in a single day?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34.1%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6853273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Smoking cigarettes/cigar/pipe/snuff/chewing tobacco?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12.3%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12.3%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12.3%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4832047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Using medicines on your own in greater amounts or longer than prescribed?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9.4%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9.4%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9.4%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0.22%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960840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555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C34A7-5005-FCC2-EC0F-160E8E1A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4" y="608684"/>
            <a:ext cx="10388764" cy="28203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2B34D-1D10-D9DA-5972-CFDE7696283A}"/>
              </a:ext>
            </a:extLst>
          </p:cNvPr>
          <p:cNvSpPr txBox="1"/>
          <p:nvPr/>
        </p:nvSpPr>
        <p:spPr>
          <a:xfrm>
            <a:off x="279400" y="0"/>
            <a:ext cx="1306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Codex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286DB-D022-CE77-E93F-9EE7419B0102}"/>
              </a:ext>
            </a:extLst>
          </p:cNvPr>
          <p:cNvSpPr txBox="1"/>
          <p:nvPr/>
        </p:nvSpPr>
        <p:spPr>
          <a:xfrm>
            <a:off x="279400" y="3543301"/>
            <a:ext cx="1854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Tabbit, same😅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DD0E5-C31C-8143-2F9A-1573AE12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3543301"/>
            <a:ext cx="3314700" cy="310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60F896-F0F0-D7FE-57E6-D99D68AFC0AB}"/>
              </a:ext>
            </a:extLst>
          </p:cNvPr>
          <p:cNvSpPr txBox="1"/>
          <p:nvPr/>
        </p:nvSpPr>
        <p:spPr>
          <a:xfrm>
            <a:off x="355600" y="22173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05_table3_self</a:t>
            </a:r>
            <a:r>
              <a:rPr lang="en-US" altLang="zh-CN" sz="2000" dirty="0">
                <a:latin typeface="Charter Roman" panose="02040503050506020203" pitchFamily="18" charset="0"/>
              </a:rPr>
              <a:t>-</a:t>
            </a:r>
            <a:r>
              <a:rPr lang="en-CN" sz="2000" dirty="0">
                <a:latin typeface="Charter Roman" panose="02040503050506020203" pitchFamily="18" charset="0"/>
              </a:rPr>
              <a:t>harm_frequencies</a:t>
            </a: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6281470F-7D40-7FE7-5F36-848FFA43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729615"/>
            <a:ext cx="4281805" cy="5671185"/>
          </a:xfrm>
          <a:prstGeom prst="rect">
            <a:avLst/>
          </a:prstGeom>
        </p:spPr>
      </p:pic>
      <p:pic>
        <p:nvPicPr>
          <p:cNvPr id="9" name="图片 5">
            <a:extLst>
              <a:ext uri="{FF2B5EF4-FFF2-40B4-BE49-F238E27FC236}">
                <a16:creationId xmlns:a16="http://schemas.microsoft.com/office/drawing/2014/main" id="{2C4F7F19-E547-B404-4680-E80628AB4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05" y="908735"/>
            <a:ext cx="4200956" cy="5599836"/>
          </a:xfrm>
          <a:prstGeom prst="rect">
            <a:avLst/>
          </a:prstGeom>
        </p:spPr>
      </p:pic>
      <p:sp>
        <p:nvSpPr>
          <p:cNvPr id="10" name="矩形 11">
            <a:extLst>
              <a:ext uri="{FF2B5EF4-FFF2-40B4-BE49-F238E27FC236}">
                <a16:creationId xmlns:a16="http://schemas.microsoft.com/office/drawing/2014/main" id="{044BB8FC-60E1-D6A1-DE78-9270213BCEB8}"/>
              </a:ext>
            </a:extLst>
          </p:cNvPr>
          <p:cNvSpPr/>
          <p:nvPr/>
        </p:nvSpPr>
        <p:spPr>
          <a:xfrm>
            <a:off x="2012315" y="1310005"/>
            <a:ext cx="96837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1">
            <a:extLst>
              <a:ext uri="{FF2B5EF4-FFF2-40B4-BE49-F238E27FC236}">
                <a16:creationId xmlns:a16="http://schemas.microsoft.com/office/drawing/2014/main" id="{031CBB6D-7AB0-254D-4BBC-4C08528FD7F6}"/>
              </a:ext>
            </a:extLst>
          </p:cNvPr>
          <p:cNvSpPr/>
          <p:nvPr/>
        </p:nvSpPr>
        <p:spPr>
          <a:xfrm>
            <a:off x="7714615" y="2351405"/>
            <a:ext cx="96837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C82E7-C23C-CACC-27A7-195BA65C015D}"/>
              </a:ext>
            </a:extLst>
          </p:cNvPr>
          <p:cNvSpPr txBox="1"/>
          <p:nvPr/>
        </p:nvSpPr>
        <p:spPr>
          <a:xfrm>
            <a:off x="8930735" y="2046659"/>
            <a:ext cx="204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N</a:t>
            </a:r>
            <a:r>
              <a:rPr lang="en-US" sz="2000" dirty="0">
                <a:latin typeface="Charter Roman" panose="02040503050506020203" pitchFamily="18" charset="0"/>
              </a:rPr>
              <a:t>(man) = 46</a:t>
            </a:r>
          </a:p>
          <a:p>
            <a:r>
              <a:rPr lang="en-US" sz="2000" dirty="0">
                <a:latin typeface="Charter Roman" panose="02040503050506020203" pitchFamily="18" charset="0"/>
              </a:rPr>
              <a:t>N(woman) = 92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5825D8-AE00-3764-61F2-2490F0F230D8}"/>
              </a:ext>
            </a:extLst>
          </p:cNvPr>
          <p:cNvSpPr txBox="1"/>
          <p:nvPr/>
        </p:nvSpPr>
        <p:spPr>
          <a:xfrm>
            <a:off x="8919210" y="2908433"/>
            <a:ext cx="3368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13/93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CN" sz="2000" dirty="0">
                <a:latin typeface="Charter Roman" panose="02040503050506020203" pitchFamily="18" charset="0"/>
              </a:rPr>
              <a:t>≈</a:t>
            </a:r>
            <a:r>
              <a:rPr lang="zh-CN" altLang="en-US" sz="2000" dirty="0">
                <a:latin typeface="Charter Roman" panose="02040503050506020203" pitchFamily="18" charset="0"/>
              </a:rPr>
              <a:t>  </a:t>
            </a:r>
            <a:r>
              <a:rPr lang="en-US" altLang="zh-CN" sz="2000" dirty="0">
                <a:latin typeface="Charter Roman" panose="02040503050506020203" pitchFamily="18" charset="0"/>
              </a:rPr>
              <a:t>0.139784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CN" sz="2000" dirty="0">
                <a:latin typeface="Charter Roman" panose="02040503050506020203" pitchFamily="18" charset="0"/>
              </a:rPr>
              <a:t>≈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latin typeface="Charter Roman" panose="02040503050506020203" pitchFamily="18" charset="0"/>
              </a:rPr>
              <a:t>0.140</a:t>
            </a:r>
            <a:endParaRPr lang="en-CN" sz="2000" dirty="0">
              <a:latin typeface="Charter Roman" panose="020405030505060202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6641B-C12F-37BB-74F6-0C21C20582E4}"/>
              </a:ext>
            </a:extLst>
          </p:cNvPr>
          <p:cNvSpPr txBox="1"/>
          <p:nvPr/>
        </p:nvSpPr>
        <p:spPr>
          <a:xfrm>
            <a:off x="8919210" y="3308543"/>
            <a:ext cx="3012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harter Roman" panose="02040503050506020203" pitchFamily="18" charset="0"/>
              </a:rPr>
              <a:t>5/44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CN" sz="2000" dirty="0">
                <a:latin typeface="Charter Roman" panose="02040503050506020203" pitchFamily="18" charset="0"/>
              </a:rPr>
              <a:t>≈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latin typeface="Charter Roman" panose="02040503050506020203" pitchFamily="18" charset="0"/>
              </a:rPr>
              <a:t>0.11363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CN" sz="2000" dirty="0">
                <a:latin typeface="Charter Roman" panose="02040503050506020203" pitchFamily="18" charset="0"/>
              </a:rPr>
              <a:t>≈</a:t>
            </a:r>
            <a:r>
              <a:rPr lang="zh-CN" altLang="en-US" sz="2000" dirty="0"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latin typeface="Charter Roman" panose="02040503050506020203" pitchFamily="18" charset="0"/>
              </a:rPr>
              <a:t>0.114</a:t>
            </a:r>
            <a:endParaRPr lang="en-CN" sz="2000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202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E378CE-4B86-42B1-F7F7-3F0ECE3C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8" y="1225550"/>
            <a:ext cx="11841643" cy="2362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DB081F-5A2C-3E2F-6D9D-BE47BC11D5CA}"/>
              </a:ext>
            </a:extLst>
          </p:cNvPr>
          <p:cNvSpPr txBox="1"/>
          <p:nvPr/>
        </p:nvSpPr>
        <p:spPr>
          <a:xfrm>
            <a:off x="175178" y="495300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69939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4883E-6065-876E-AAA4-B50B55EA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874EA1-6038-F967-2434-DB9DFFE34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08100"/>
              </p:ext>
            </p:extLst>
          </p:nvPr>
        </p:nvGraphicFramePr>
        <p:xfrm>
          <a:off x="240801" y="1293096"/>
          <a:ext cx="11710398" cy="4401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9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864270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attachment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-0.21, p = 0.013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-0.21, p = 0.013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Availability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-0.15, p = 0.070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-0.15, p = 0.070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2.95%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805141215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Angry distress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-0.29, p &lt; .001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-0.29, p &lt; .001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0.01%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12447495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Goal-corrected partnership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-0.10, p = 0.222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-0.10, p = 0.222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5.08%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92281208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-0.39,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-0.39,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0.63%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Physical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-0.36,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-0.36,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0.67%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Verbal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0.69%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659277537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Anger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-0.26, p = 0.002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-0.26, p = 0.002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0.93%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80171922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Hostility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-0.32,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6853273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psychopathology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-0.43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-0.43,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-0.43, p &lt; .001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0.74%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4832047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frequency of self-harm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-0.15, p = 0.076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-0.15, p = 0.076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1.12%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96084028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41B61D3-FD5D-251F-9F8E-1AFF76EEC85A}"/>
              </a:ext>
            </a:extLst>
          </p:cNvPr>
          <p:cNvSpPr txBox="1"/>
          <p:nvPr/>
        </p:nvSpPr>
        <p:spPr>
          <a:xfrm>
            <a:off x="149860" y="1318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06_table4_preliminary_correlations</a:t>
            </a:r>
          </a:p>
          <a:p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4CD68-D677-A747-F17A-C43ABCE5B205}"/>
              </a:ext>
            </a:extLst>
          </p:cNvPr>
          <p:cNvSpPr txBox="1"/>
          <p:nvPr/>
        </p:nvSpPr>
        <p:spPr>
          <a:xfrm>
            <a:off x="240801" y="745892"/>
            <a:ext cx="68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3295556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9DE7-DE4D-1209-E708-28F1AE9C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122DA1-A70D-6B69-03DA-41D7202F3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767301"/>
              </p:ext>
            </p:extLst>
          </p:nvPr>
        </p:nvGraphicFramePr>
        <p:xfrm>
          <a:off x="240801" y="1293096"/>
          <a:ext cx="11710398" cy="4401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499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864270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836077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attachment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0.06, p = 0.495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0.06, p = 0.495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2.35%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Availability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0.02, p = 0.780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0.02, p = 0.780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16.52%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805141215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Angry distress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0.10, p = 0.236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0.10, p = 0.236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1.47%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12447495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Goal-corrected partnership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0.03, p = 0.727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0.03, p = 0.727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0.19%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92281208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0.09, p = 0.288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0.09, p = 0.288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1.28%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Physical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0.00, p = 0.970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0.00, p = 0.970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206.69%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Verbal aggression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-0.06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-0.06, p = 0.474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-0.06, p = 0.474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2.42%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659277537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Anger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0.19, p = 0.024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0.19, p = 0.024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0.78%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80171922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Hostility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0.13, p = 0.137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0.13, p = 0.137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2.15%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56853273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psychopathology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0.01, p = 0.932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0.01, p = 0.932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37.26%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0476"/>
                  </a:ext>
                </a:extLst>
              </a:tr>
              <a:tr h="3241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frequency of self-harm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0.02, p = 0.851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4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r = 0.02, p = 0.851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38.18%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96084028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1967FEB-6127-62D2-AF49-5A628AF91DBA}"/>
              </a:ext>
            </a:extLst>
          </p:cNvPr>
          <p:cNvSpPr txBox="1"/>
          <p:nvPr/>
        </p:nvSpPr>
        <p:spPr>
          <a:xfrm>
            <a:off x="149860" y="1318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06_table4_preliminary_correlations</a:t>
            </a:r>
          </a:p>
          <a:p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4C7485-B063-83EF-0454-3DA1C2549243}"/>
              </a:ext>
            </a:extLst>
          </p:cNvPr>
          <p:cNvSpPr txBox="1"/>
          <p:nvPr/>
        </p:nvSpPr>
        <p:spPr>
          <a:xfrm>
            <a:off x="240801" y="745892"/>
            <a:ext cx="652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/>
              <a:t>Sex</a:t>
            </a:r>
          </a:p>
        </p:txBody>
      </p:sp>
    </p:spTree>
    <p:extLst>
      <p:ext uri="{BB962C8B-B14F-4D97-AF65-F5344CB8AC3E}">
        <p14:creationId xmlns:p14="http://schemas.microsoft.com/office/powerpoint/2010/main" val="1687036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7A415F-23B9-7FD2-9BDC-35588788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10" y="1273486"/>
            <a:ext cx="10304566" cy="2624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808C72-7469-02CF-E42B-9A11C00C9D55}"/>
              </a:ext>
            </a:extLst>
          </p:cNvPr>
          <p:cNvSpPr txBox="1"/>
          <p:nvPr/>
        </p:nvSpPr>
        <p:spPr>
          <a:xfrm>
            <a:off x="308610" y="537210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Codex</a:t>
            </a:r>
          </a:p>
        </p:txBody>
      </p:sp>
    </p:spTree>
    <p:extLst>
      <p:ext uri="{BB962C8B-B14F-4D97-AF65-F5344CB8AC3E}">
        <p14:creationId xmlns:p14="http://schemas.microsoft.com/office/powerpoint/2010/main" val="226943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701E-36AD-3B11-C942-D2A56E01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9695B-9F6D-4C4A-C774-964087160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470900"/>
              </p:ext>
            </p:extLst>
          </p:nvPr>
        </p:nvGraphicFramePr>
        <p:xfrm>
          <a:off x="240801" y="675876"/>
          <a:ext cx="11710399" cy="539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750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714750">
                  <a:extLst>
                    <a:ext uri="{9D8B030D-6E8A-4147-A177-3AD203B41FA5}">
                      <a16:colId xmlns:a16="http://schemas.microsoft.com/office/drawing/2014/main" val="28784986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1085849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614498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Mini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-K</a:t>
                      </a:r>
                      <a:endParaRPr lang="en-CN" sz="16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full biological 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</a:t>
                      </a:r>
                      <a:endParaRPr lang="en-CN" sz="16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0.00, p = 0.995</a:t>
                      </a: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1876.47%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half-siblings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-0.10, p = 0.261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3.42%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8051412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step-siblings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-0.05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-0.05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-0.05, p = 0.559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0.76%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12447495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Presence of stepparent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-0.19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7</a:t>
                      </a:r>
                      <a:endParaRPr lang="en-CN" sz="16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-0.19, p = 0.030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2.34%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4092281208"/>
                  </a:ext>
                </a:extLst>
              </a:tr>
              <a:tr h="324160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HKSS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full biological 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0.03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0.03, p = 0.691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12.37%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half-siblings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-0.20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-0.20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-0.20, p = 0.021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1.61%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Number of step-siblings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-0.08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-0.08, p = 0.332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4.16%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659277537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Presence of stepparent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-0.06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14</a:t>
                      </a:r>
                      <a:endParaRPr lang="en-CN" sz="16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16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-0.06, p = 0.472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3.12%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15801719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C35E3E0-D1BC-F30D-7C84-8A2887937820}"/>
              </a:ext>
            </a:extLst>
          </p:cNvPr>
          <p:cNvSpPr txBox="1"/>
          <p:nvPr/>
        </p:nvSpPr>
        <p:spPr>
          <a:xfrm>
            <a:off x="377190" y="205740"/>
            <a:ext cx="4210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07_family_structure_partial_correlations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EB317-FD4E-0DFF-DD1A-A16151E4CFDC}"/>
              </a:ext>
            </a:extLst>
          </p:cNvPr>
          <p:cNvSpPr txBox="1"/>
          <p:nvPr/>
        </p:nvSpPr>
        <p:spPr>
          <a:xfrm>
            <a:off x="240801" y="6282928"/>
            <a:ext cx="546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* Wang J.Y.Y used </a:t>
            </a:r>
            <a:r>
              <a:rPr lang="en-CN" dirty="0">
                <a:solidFill>
                  <a:srgbClr val="FF0000"/>
                </a:solidFill>
              </a:rPr>
              <a:t>Stepparent</a:t>
            </a:r>
            <a:r>
              <a:rPr lang="en-CN" dirty="0"/>
              <a:t> instead of </a:t>
            </a:r>
            <a:r>
              <a:rPr lang="en-CN" dirty="0">
                <a:solidFill>
                  <a:srgbClr val="FF0000"/>
                </a:solidFill>
              </a:rPr>
              <a:t>Stepparent_N</a:t>
            </a:r>
            <a:r>
              <a:rPr lang="en-C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02A935-F979-133C-D029-428AB0EB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146"/>
          <a:stretch>
            <a:fillRect/>
          </a:stretch>
        </p:blipFill>
        <p:spPr>
          <a:xfrm>
            <a:off x="6009354" y="6140059"/>
            <a:ext cx="1752600" cy="65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62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3F8C6B-8DE8-78CB-B9C1-35003512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47" y="885326"/>
            <a:ext cx="10634505" cy="36523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C68C0E-2999-81EB-F6C9-D13B11F73A6B}"/>
              </a:ext>
            </a:extLst>
          </p:cNvPr>
          <p:cNvSpPr txBox="1"/>
          <p:nvPr/>
        </p:nvSpPr>
        <p:spPr>
          <a:xfrm>
            <a:off x="217170" y="320040"/>
            <a:ext cx="10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Codex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04C56A-CB39-14A4-B6EA-E330476F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9" y="5185274"/>
            <a:ext cx="52832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43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947DB-E24D-B009-7660-09C67752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721B1E-5B66-E27E-9462-E6C023E6A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46125"/>
              </p:ext>
            </p:extLst>
          </p:nvPr>
        </p:nvGraphicFramePr>
        <p:xfrm>
          <a:off x="240800" y="1546622"/>
          <a:ext cx="11710399" cy="297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750">
                  <a:extLst>
                    <a:ext uri="{9D8B030D-6E8A-4147-A177-3AD203B41FA5}">
                      <a16:colId xmlns:a16="http://schemas.microsoft.com/office/drawing/2014/main" val="2336190866"/>
                    </a:ext>
                  </a:extLst>
                </a:gridCol>
                <a:gridCol w="1714750">
                  <a:extLst>
                    <a:ext uri="{9D8B030D-6E8A-4147-A177-3AD203B41FA5}">
                      <a16:colId xmlns:a16="http://schemas.microsoft.com/office/drawing/2014/main" val="28784986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0761184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3052805687"/>
                    </a:ext>
                  </a:extLst>
                </a:gridCol>
                <a:gridCol w="1085849">
                  <a:extLst>
                    <a:ext uri="{9D8B030D-6E8A-4147-A177-3AD203B41FA5}">
                      <a16:colId xmlns:a16="http://schemas.microsoft.com/office/drawing/2014/main" val="3376266667"/>
                    </a:ext>
                  </a:extLst>
                </a:gridCol>
                <a:gridCol w="1614498">
                  <a:extLst>
                    <a:ext uri="{9D8B030D-6E8A-4147-A177-3AD203B41FA5}">
                      <a16:colId xmlns:a16="http://schemas.microsoft.com/office/drawing/2014/main" val="897173132"/>
                    </a:ext>
                  </a:extLst>
                </a:gridCol>
                <a:gridCol w="2530012">
                  <a:extLst>
                    <a:ext uri="{9D8B030D-6E8A-4147-A177-3AD203B41FA5}">
                      <a16:colId xmlns:a16="http://schemas.microsoft.com/office/drawing/2014/main" val="2558514496"/>
                    </a:ext>
                  </a:extLst>
                </a:gridCol>
              </a:tblGrid>
              <a:tr h="317515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Goal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Authors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CN" sz="2000" dirty="0">
                          <a:latin typeface="Charter Roman" panose="02040503050506020203" pitchFamily="18" charset="0"/>
                        </a:rPr>
                        <a:t>Wang J.Y.Y.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harter Roman" panose="02040503050506020203" pitchFamily="18" charset="0"/>
                        </a:rPr>
                        <a:t>hyijie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harter Roman" panose="02040503050506020203" pitchFamily="18" charset="0"/>
                        </a:rPr>
                        <a:t>θ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by</a:t>
                      </a:r>
                      <a:r>
                        <a:rPr lang="zh-CN" altLang="en-US" sz="2000" dirty="0">
                          <a:latin typeface="Charter Roman" panose="02040503050506020203" pitchFamily="18" charset="0"/>
                        </a:rPr>
                        <a:t> </a:t>
                      </a:r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.docx</a:t>
                      </a:r>
                      <a:endParaRPr lang="en-US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291492"/>
                  </a:ext>
                </a:extLst>
              </a:tr>
              <a:tr h="412568">
                <a:tc gridSpan="2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Tabbit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Codex</a:t>
                      </a:r>
                    </a:p>
                    <a:p>
                      <a:pPr algn="ctr"/>
                      <a:r>
                        <a:rPr lang="en-CN" sz="1400" dirty="0">
                          <a:latin typeface="Charter Roman" panose="02040503050506020203" pitchFamily="18" charset="0"/>
                        </a:rPr>
                        <a:t>(GPT 5.4 medium)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37004"/>
                  </a:ext>
                </a:extLst>
              </a:tr>
              <a:tr h="324160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Mini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-K</a:t>
                      </a:r>
                      <a:endParaRPr lang="en-CN" sz="1600" b="0" i="0" u="none" strike="noStrike" dirty="0">
                        <a:solidFill>
                          <a:srgbClr val="000000"/>
                        </a:solidFill>
                        <a:effectLst/>
                        <a:latin typeface="Charter Roman" panose="02040503050506020203" pitchFamily="18" charset="0"/>
                      </a:endParaRP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psychopathology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-0.51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-0.51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harter Roman" panose="02040503050506020203" pitchFamily="18" charset="0"/>
                        </a:rPr>
                        <a:t>—</a:t>
                      </a:r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-0.51</a:t>
                      </a:r>
                    </a:p>
                  </a:txBody>
                  <a:tcPr marL="9525" marR="9525" marT="9525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0.66%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618730949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frequency of self-harm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-0.04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5.49%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805141215"/>
                  </a:ext>
                </a:extLst>
              </a:tr>
              <a:tr h="324160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HKSS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psychopathology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-0.41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-0.41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-0.41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0.30%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3996877814"/>
                  </a:ext>
                </a:extLst>
              </a:tr>
              <a:tr h="32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Total frequency of self-harm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-0.17</a:t>
                      </a:r>
                    </a:p>
                  </a:txBody>
                  <a:tcPr marL="9525" marR="9525" marT="9525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-0.17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 dirty="0">
                        <a:latin typeface="Charter Roman" panose="020405030505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pr = -0.17</a:t>
                      </a:r>
                    </a:p>
                  </a:txBody>
                  <a:tcPr marL="9525" marR="9525" marT="9525">
                    <a:solidFill>
                      <a:srgbClr val="CCD3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harter Roman" panose="02040503050506020203" pitchFamily="18" charset="0"/>
                        </a:rPr>
                        <a:t>1.39%</a:t>
                      </a:r>
                    </a:p>
                  </a:txBody>
                  <a:tcPr marL="9525" marR="9525" marT="9525"/>
                </a:tc>
                <a:extLst>
                  <a:ext uri="{0D108BD9-81ED-4DB2-BD59-A6C34878D82A}">
                    <a16:rowId xmlns:a16="http://schemas.microsoft.com/office/drawing/2014/main" val="9440089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79A22B7-45F6-541E-CA78-A84F73926A27}"/>
              </a:ext>
            </a:extLst>
          </p:cNvPr>
          <p:cNvSpPr txBox="1"/>
          <p:nvPr/>
        </p:nvSpPr>
        <p:spPr>
          <a:xfrm>
            <a:off x="240800" y="948690"/>
            <a:ext cx="528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harter Roman" panose="02040503050506020203" pitchFamily="18" charset="0"/>
              </a:rPr>
              <a:t>08_psychopathology_selfharm_partial_correlations</a:t>
            </a: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473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-20955" y="1083310"/>
            <a:ext cx="12222480" cy="0"/>
          </a:xfrm>
          <a:prstGeom prst="line">
            <a:avLst/>
          </a:prstGeom>
          <a:ln>
            <a:solidFill>
              <a:srgbClr val="1B2B8C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-1073785" y="366395"/>
            <a:ext cx="1755775" cy="492125"/>
            <a:chOff x="-602337" y="312866"/>
            <a:chExt cx="1816448" cy="568331"/>
          </a:xfrm>
        </p:grpSpPr>
        <p:sp>
          <p:nvSpPr>
            <p:cNvPr id="10" name="任意多边形: 形状 9"/>
            <p:cNvSpPr/>
            <p:nvPr/>
          </p:nvSpPr>
          <p:spPr>
            <a:xfrm rot="16200000" flipV="1">
              <a:off x="21722" y="-311193"/>
              <a:ext cx="568330" cy="1816448"/>
            </a:xfrm>
            <a:custGeom>
              <a:avLst/>
              <a:gdLst>
                <a:gd name="connsiteX0" fmla="*/ 568330 w 568330"/>
                <a:gd name="connsiteY0" fmla="*/ 555322 h 1816448"/>
                <a:gd name="connsiteX1" fmla="*/ 568330 w 568330"/>
                <a:gd name="connsiteY1" fmla="*/ 284169 h 1816448"/>
                <a:gd name="connsiteX2" fmla="*/ 546406 w 568330"/>
                <a:gd name="connsiteY2" fmla="*/ 262244 h 1816448"/>
                <a:gd name="connsiteX3" fmla="*/ 546216 w 568330"/>
                <a:gd name="connsiteY3" fmla="*/ 262054 h 1816448"/>
                <a:gd name="connsiteX4" fmla="*/ 284166 w 568330"/>
                <a:gd name="connsiteY4" fmla="*/ 0 h 1816448"/>
                <a:gd name="connsiteX5" fmla="*/ 22114 w 568330"/>
                <a:gd name="connsiteY5" fmla="*/ 262054 h 1816448"/>
                <a:gd name="connsiteX6" fmla="*/ 21363 w 568330"/>
                <a:gd name="connsiteY6" fmla="*/ 262804 h 1816448"/>
                <a:gd name="connsiteX7" fmla="*/ 0 w 568330"/>
                <a:gd name="connsiteY7" fmla="*/ 284169 h 1816448"/>
                <a:gd name="connsiteX8" fmla="*/ 0 w 568330"/>
                <a:gd name="connsiteY8" fmla="*/ 1545295 h 1816448"/>
                <a:gd name="connsiteX9" fmla="*/ 0 w 568330"/>
                <a:gd name="connsiteY9" fmla="*/ 1816448 h 1816448"/>
                <a:gd name="connsiteX10" fmla="*/ 0 w 568330"/>
                <a:gd name="connsiteY10" fmla="*/ 555322 h 1816448"/>
                <a:gd name="connsiteX11" fmla="*/ 21363 w 568330"/>
                <a:gd name="connsiteY11" fmla="*/ 533957 h 1816448"/>
                <a:gd name="connsiteX12" fmla="*/ 22114 w 568330"/>
                <a:gd name="connsiteY12" fmla="*/ 533207 h 1816448"/>
                <a:gd name="connsiteX13" fmla="*/ 284166 w 568330"/>
                <a:gd name="connsiteY13" fmla="*/ 271153 h 1816448"/>
                <a:gd name="connsiteX14" fmla="*/ 546216 w 568330"/>
                <a:gd name="connsiteY14" fmla="*/ 533207 h 1816448"/>
                <a:gd name="connsiteX15" fmla="*/ 546406 w 568330"/>
                <a:gd name="connsiteY15" fmla="*/ 533397 h 1816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68330" h="1816448">
                  <a:moveTo>
                    <a:pt x="568330" y="555322"/>
                  </a:moveTo>
                  <a:lnTo>
                    <a:pt x="568330" y="284169"/>
                  </a:lnTo>
                  <a:lnTo>
                    <a:pt x="546406" y="262244"/>
                  </a:lnTo>
                  <a:lnTo>
                    <a:pt x="546216" y="262054"/>
                  </a:lnTo>
                  <a:lnTo>
                    <a:pt x="284166" y="0"/>
                  </a:lnTo>
                  <a:lnTo>
                    <a:pt x="22114" y="262054"/>
                  </a:lnTo>
                  <a:lnTo>
                    <a:pt x="21363" y="262804"/>
                  </a:lnTo>
                  <a:lnTo>
                    <a:pt x="0" y="284169"/>
                  </a:lnTo>
                  <a:cubicBezTo>
                    <a:pt x="0" y="704544"/>
                    <a:pt x="0" y="1124920"/>
                    <a:pt x="0" y="1545295"/>
                  </a:cubicBezTo>
                  <a:lnTo>
                    <a:pt x="0" y="1816448"/>
                  </a:lnTo>
                  <a:cubicBezTo>
                    <a:pt x="0" y="1396073"/>
                    <a:pt x="1" y="975697"/>
                    <a:pt x="0" y="555322"/>
                  </a:cubicBezTo>
                  <a:lnTo>
                    <a:pt x="21363" y="533957"/>
                  </a:lnTo>
                  <a:lnTo>
                    <a:pt x="22114" y="533207"/>
                  </a:lnTo>
                  <a:lnTo>
                    <a:pt x="284166" y="271153"/>
                  </a:lnTo>
                  <a:lnTo>
                    <a:pt x="546216" y="533207"/>
                  </a:lnTo>
                  <a:lnTo>
                    <a:pt x="546406" y="533397"/>
                  </a:lnTo>
                  <a:close/>
                </a:path>
              </a:pathLst>
            </a:custGeom>
            <a:solidFill>
              <a:srgbClr val="3447A8"/>
            </a:solidFill>
            <a:ln>
              <a:noFill/>
            </a:ln>
            <a:effectLst>
              <a:outerShdw blurRad="762000" dist="1016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钉钉进步体"/>
                <a:sym typeface="Times New Roman" panose="02020603050405020304"/>
              </a:endParaRPr>
            </a:p>
          </p:txBody>
        </p:sp>
        <p:sp>
          <p:nvSpPr>
            <p:cNvPr id="7" name="任意多边形: 形状 10"/>
            <p:cNvSpPr/>
            <p:nvPr/>
          </p:nvSpPr>
          <p:spPr>
            <a:xfrm rot="16200000" flipV="1">
              <a:off x="375244" y="423906"/>
              <a:ext cx="568330" cy="346251"/>
            </a:xfrm>
            <a:custGeom>
              <a:avLst/>
              <a:gdLst>
                <a:gd name="connsiteX0" fmla="*/ 568330 w 568330"/>
                <a:gd name="connsiteY0" fmla="*/ 346250 h 346251"/>
                <a:gd name="connsiteX1" fmla="*/ 568330 w 568330"/>
                <a:gd name="connsiteY1" fmla="*/ 330961 h 346251"/>
                <a:gd name="connsiteX2" fmla="*/ 546406 w 568330"/>
                <a:gd name="connsiteY2" fmla="*/ 305424 h 346251"/>
                <a:gd name="connsiteX3" fmla="*/ 546216 w 568330"/>
                <a:gd name="connsiteY3" fmla="*/ 305204 h 346251"/>
                <a:gd name="connsiteX4" fmla="*/ 284166 w 568330"/>
                <a:gd name="connsiteY4" fmla="*/ 0 h 346251"/>
                <a:gd name="connsiteX5" fmla="*/ 22114 w 568330"/>
                <a:gd name="connsiteY5" fmla="*/ 305204 h 346251"/>
                <a:gd name="connsiteX6" fmla="*/ 21364 w 568330"/>
                <a:gd name="connsiteY6" fmla="*/ 306078 h 346251"/>
                <a:gd name="connsiteX7" fmla="*/ 0 w 568330"/>
                <a:gd name="connsiteY7" fmla="*/ 330961 h 346251"/>
                <a:gd name="connsiteX8" fmla="*/ 0 w 568330"/>
                <a:gd name="connsiteY8" fmla="*/ 346251 h 34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8330" h="346251">
                  <a:moveTo>
                    <a:pt x="568330" y="346250"/>
                  </a:moveTo>
                  <a:lnTo>
                    <a:pt x="568330" y="330961"/>
                  </a:lnTo>
                  <a:lnTo>
                    <a:pt x="546406" y="305424"/>
                  </a:lnTo>
                  <a:lnTo>
                    <a:pt x="546216" y="305204"/>
                  </a:lnTo>
                  <a:lnTo>
                    <a:pt x="284166" y="0"/>
                  </a:lnTo>
                  <a:lnTo>
                    <a:pt x="22114" y="305204"/>
                  </a:lnTo>
                  <a:lnTo>
                    <a:pt x="21364" y="306078"/>
                  </a:lnTo>
                  <a:lnTo>
                    <a:pt x="0" y="330961"/>
                  </a:lnTo>
                  <a:lnTo>
                    <a:pt x="0" y="346251"/>
                  </a:lnTo>
                  <a:close/>
                </a:path>
              </a:pathLst>
            </a:custGeom>
            <a:solidFill>
              <a:srgbClr val="3447A8"/>
            </a:solidFill>
            <a:ln>
              <a:noFill/>
            </a:ln>
            <a:effectLst>
              <a:outerShdw blurRad="762000" dist="1016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钉钉进步体"/>
                <a:sym typeface="Times New Roman" panose="02020603050405020304"/>
              </a:endParaRPr>
            </a:p>
          </p:txBody>
        </p:sp>
      </p:grpSp>
      <p:pic>
        <p:nvPicPr>
          <p:cNvPr id="36" name="图片 35" descr="校徽+南京师范大学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42705" y="-762635"/>
            <a:ext cx="3249295" cy="22974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60120" y="396875"/>
            <a:ext cx="5135245" cy="430530"/>
          </a:xfrm>
          <a:prstGeom prst="rect">
            <a:avLst/>
          </a:prstGeom>
          <a:noFill/>
          <a:effectLst>
            <a:glow rad="203200">
              <a:srgbClr val="FF0000">
                <a:alpha val="69000"/>
              </a:srgbClr>
            </a:glow>
          </a:effectLst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+mn-ea"/>
                <a:sym typeface="Times New Roman" panose="02020603050405020304"/>
              </a:rPr>
              <a:t>复现结果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60" y="971550"/>
            <a:ext cx="4342765" cy="5749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46630" y="1664335"/>
            <a:ext cx="96837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197735" y="3696335"/>
            <a:ext cx="244538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654050"/>
            <a:ext cx="4927600" cy="62039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246630" y="6330315"/>
            <a:ext cx="968375" cy="68961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466330" y="588645"/>
            <a:ext cx="968375" cy="4946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520940" y="1884680"/>
            <a:ext cx="968375" cy="294068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5BA13-9A2C-1924-E5CA-AF0970D36FDF}"/>
              </a:ext>
            </a:extLst>
          </p:cNvPr>
          <p:cNvSpPr txBox="1"/>
          <p:nvPr/>
        </p:nvSpPr>
        <p:spPr>
          <a:xfrm>
            <a:off x="2730817" y="127040"/>
            <a:ext cx="3752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10_attachment_partial_correlations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33281B-7776-174A-ADF6-3B8C83946C79}"/>
              </a:ext>
            </a:extLst>
          </p:cNvPr>
          <p:cNvSpPr txBox="1"/>
          <p:nvPr/>
        </p:nvSpPr>
        <p:spPr>
          <a:xfrm>
            <a:off x="2730817" y="403979"/>
            <a:ext cx="366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12_aggression_partial_correlations</a:t>
            </a:r>
            <a:endParaRPr lang="en-CN" dirty="0">
              <a:latin typeface="Charter Roman" panose="02040503050506020203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A9BC4D-B622-5872-FBC4-D8F6D8264F00}"/>
              </a:ext>
            </a:extLst>
          </p:cNvPr>
          <p:cNvSpPr txBox="1"/>
          <p:nvPr/>
        </p:nvSpPr>
        <p:spPr>
          <a:xfrm>
            <a:off x="180023" y="34111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11_regressions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01E21B-BBA0-37AC-CA95-F8E96B596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09" y="848571"/>
            <a:ext cx="10723419" cy="627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B0F3EB-8854-8F32-6581-61F6C599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23" y="1699498"/>
            <a:ext cx="4936847" cy="3663892"/>
          </a:xfrm>
          <a:prstGeom prst="rect">
            <a:avLst/>
          </a:prstGeom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4F4F17B1-6775-5BF1-613D-23C43FAA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5" y="1699498"/>
            <a:ext cx="6212840" cy="4635500"/>
          </a:xfrm>
          <a:prstGeom prst="rect">
            <a:avLst/>
          </a:prstGeom>
        </p:spPr>
      </p:pic>
      <p:sp>
        <p:nvSpPr>
          <p:cNvPr id="11" name="矩形 5">
            <a:extLst>
              <a:ext uri="{FF2B5EF4-FFF2-40B4-BE49-F238E27FC236}">
                <a16:creationId xmlns:a16="http://schemas.microsoft.com/office/drawing/2014/main" id="{F35A9ED6-7C06-92DE-A8B1-4D5F89305B0C}"/>
              </a:ext>
            </a:extLst>
          </p:cNvPr>
          <p:cNvSpPr/>
          <p:nvPr/>
        </p:nvSpPr>
        <p:spPr>
          <a:xfrm>
            <a:off x="6803390" y="3195211"/>
            <a:ext cx="287337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3">
            <a:extLst>
              <a:ext uri="{FF2B5EF4-FFF2-40B4-BE49-F238E27FC236}">
                <a16:creationId xmlns:a16="http://schemas.microsoft.com/office/drawing/2014/main" id="{54643DBA-CE18-8BAA-00A3-E82222CEB6F0}"/>
              </a:ext>
            </a:extLst>
          </p:cNvPr>
          <p:cNvSpPr/>
          <p:nvPr/>
        </p:nvSpPr>
        <p:spPr>
          <a:xfrm>
            <a:off x="7755889" y="2410999"/>
            <a:ext cx="968375" cy="67246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0">
            <a:extLst>
              <a:ext uri="{FF2B5EF4-FFF2-40B4-BE49-F238E27FC236}">
                <a16:creationId xmlns:a16="http://schemas.microsoft.com/office/drawing/2014/main" id="{91B2097A-F54F-C931-6745-73DB49929DF1}"/>
              </a:ext>
            </a:extLst>
          </p:cNvPr>
          <p:cNvSpPr/>
          <p:nvPr/>
        </p:nvSpPr>
        <p:spPr>
          <a:xfrm>
            <a:off x="7755889" y="3979423"/>
            <a:ext cx="968375" cy="146748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596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972C-5DB1-BA55-FF88-E0902BCB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F4C9BF-61B9-E166-434D-D6EC2398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73" b="-1"/>
          <a:stretch>
            <a:fillRect/>
          </a:stretch>
        </p:blipFill>
        <p:spPr>
          <a:xfrm>
            <a:off x="411480" y="777240"/>
            <a:ext cx="9876019" cy="246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3C50B0-CB9B-F110-8D30-083872C42BE9}"/>
              </a:ext>
            </a:extLst>
          </p:cNvPr>
          <p:cNvSpPr txBox="1"/>
          <p:nvPr/>
        </p:nvSpPr>
        <p:spPr>
          <a:xfrm>
            <a:off x="411480" y="190341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harter Roman" panose="02040503050506020203" pitchFamily="18" charset="0"/>
              </a:rPr>
              <a:t>09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+13: </a:t>
            </a:r>
            <a:r>
              <a:rPr lang="en-US" dirty="0">
                <a:latin typeface="Charter Roman" panose="02040503050506020203" pitchFamily="18" charset="0"/>
              </a:rPr>
              <a:t>moderation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E3F67-9439-835C-431C-4CD6E688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49487"/>
            <a:ext cx="5276392" cy="2063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A0E286-59BE-B025-3894-3836B320E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79708"/>
            <a:ext cx="9847792" cy="552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30BDA5-50E9-2F6B-5296-2AA71A5D9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4149487"/>
            <a:ext cx="6087110" cy="208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934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4CA128-8FCF-D1F3-23B8-C9AB0B60801D}"/>
              </a:ext>
            </a:extLst>
          </p:cNvPr>
          <p:cNvSpPr txBox="1"/>
          <p:nvPr/>
        </p:nvSpPr>
        <p:spPr>
          <a:xfrm>
            <a:off x="524608" y="760535"/>
            <a:ext cx="1907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BCB3B-921A-6549-EC87-E9AAC132579D}"/>
              </a:ext>
            </a:extLst>
          </p:cNvPr>
          <p:cNvSpPr txBox="1"/>
          <p:nvPr/>
        </p:nvSpPr>
        <p:spPr>
          <a:xfrm>
            <a:off x="933304" y="1708725"/>
            <a:ext cx="10325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harter Roman" panose="02040503050506020203" pitchFamily="18" charset="0"/>
              </a:rPr>
              <a:t>W</a:t>
            </a:r>
            <a:r>
              <a:rPr lang="en-US" altLang="zh-CN" sz="2400" dirty="0">
                <a:latin typeface="Charter Roman" panose="02040503050506020203" pitchFamily="18" charset="0"/>
              </a:rPr>
              <a:t>e can replicate the most results of the paper.</a:t>
            </a:r>
            <a:r>
              <a:rPr lang="en-US" altLang="zh-CN" sz="2400" dirty="0">
                <a:latin typeface="Charter Roman" panose="02040503050506020203" pitchFamily="18" charset="0"/>
              </a:rPr>
              <a:t> Although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some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values are different, they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do not</a:t>
            </a:r>
            <a:r>
              <a:rPr lang="en-US" altLang="zh-CN" sz="2400" dirty="0">
                <a:latin typeface="Charter Roman" panose="02040503050506020203" pitchFamily="18" charset="0"/>
              </a:rPr>
              <a:t> change the conclusion.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harter Roman" panose="020405030505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400" dirty="0">
                <a:latin typeface="Charter Roman" panose="02040503050506020203" pitchFamily="18" charset="0"/>
              </a:rPr>
              <a:t>Codex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is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better ()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in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precision and contents.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harter Roman" panose="020405030505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arter Roman" panose="02040503050506020203" pitchFamily="18" charset="0"/>
              </a:rPr>
              <a:t>If you want your paper to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be</a:t>
            </a:r>
            <a:r>
              <a:rPr lang="en-US" sz="2400" dirty="0">
                <a:latin typeface="Charter Roman" panose="02040503050506020203" pitchFamily="18" charset="0"/>
              </a:rPr>
              <a:t> replicable, please share detailed calculations or code.</a:t>
            </a:r>
            <a:endParaRPr lang="en-CN" sz="2400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52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205.7761"/>
  <p:tag name="LEFT" val="173.0257"/>
  <p:tag name="WIDTH" val="632.3657"/>
  <p:tag name="HEIGHT" val="116.325"/>
  <p:tag name="FONTSIZE" val="96"/>
  <p:tag name="MARGINBOTTOM" val="0"/>
  <p:tag name="MARGINLEFT" val="0"/>
  <p:tag name="MARGINRIGHT" val="0"/>
  <p:tag name="MARGINTOP" val="0"/>
  <p:tag name="LINERULEAFTE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2097</Words>
  <Application>Microsoft Macintosh PowerPoint</Application>
  <PresentationFormat>Widescreen</PresentationFormat>
  <Paragraphs>705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Aptos Narrow</vt:lpstr>
      <vt:lpstr>Arial</vt:lpstr>
      <vt:lpstr>CHARTER ROMAN</vt:lpstr>
      <vt:lpstr>CHARTER ROMAN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Yijie</dc:creator>
  <cp:lastModifiedBy>Huang Yijie</cp:lastModifiedBy>
  <cp:revision>66</cp:revision>
  <dcterms:created xsi:type="dcterms:W3CDTF">2026-06-10T01:53:57Z</dcterms:created>
  <dcterms:modified xsi:type="dcterms:W3CDTF">2026-06-11T10:25:16Z</dcterms:modified>
</cp:coreProperties>
</file>